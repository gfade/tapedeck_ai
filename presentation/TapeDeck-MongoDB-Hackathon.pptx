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86f5fd566d4701" /><Relationship Type="http://schemas.openxmlformats.org/officeDocument/2006/relationships/extended-properties" Target="/docProps/app.xml" Id="Rdf75d9fcfada4c2f" /><Relationship Type="http://schemas.openxmlformats.org/officeDocument/2006/relationships/officeDocument" Target="/ppt/presentation.xml" Id="Rcad412bc213d4e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8337f4c6494117"/>
  </p:sldMasterIdLst>
  <p:notesMasterIdLst>
    <p:notesMasterId xmlns:r="http://schemas.openxmlformats.org/officeDocument/2006/relationships" r:id="R279247cdff4142c2"/>
  </p:notesMasterIdLst>
  <p:sldIdLst>
    <p:sldId xmlns:r="http://schemas.openxmlformats.org/officeDocument/2006/relationships" id="256" r:id="R014a1d5f167a4f9d"/>
    <p:sldId xmlns:r="http://schemas.openxmlformats.org/officeDocument/2006/relationships" id="257" r:id="R8ea258301413497f"/>
    <p:sldId xmlns:r="http://schemas.openxmlformats.org/officeDocument/2006/relationships" id="258" r:id="R6ea5faa33aea43b8"/>
    <p:sldId xmlns:r="http://schemas.openxmlformats.org/officeDocument/2006/relationships" id="259" r:id="R2ec2f4a91c9e4279"/>
    <p:sldId xmlns:r="http://schemas.openxmlformats.org/officeDocument/2006/relationships" id="260" r:id="R6c34d8e588344e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ac76570fe64ed6" /><Relationship Type="http://schemas.openxmlformats.org/officeDocument/2006/relationships/slideMaster" Target="/ppt/slideMasters/slideMaster1.xml" Id="R6a8337f4c6494117" /><Relationship Type="http://schemas.openxmlformats.org/officeDocument/2006/relationships/notesMaster" Target="/ppt/notesMasters/notesMaster1.xml" Id="R279247cdff4142c2" /><Relationship Type="http://schemas.openxmlformats.org/officeDocument/2006/relationships/presProps" Target="/ppt/presProps.xml" Id="R366d213fe0b14523" /><Relationship Type="http://schemas.openxmlformats.org/officeDocument/2006/relationships/tableStyles" Target="/ppt/tableStyles.xml" Id="R95966350a2d1413a" /><Relationship Type="http://schemas.openxmlformats.org/officeDocument/2006/relationships/slide" Target="/ppt/slides/slide1.xml" Id="R014a1d5f167a4f9d" /><Relationship Type="http://schemas.openxmlformats.org/officeDocument/2006/relationships/slide" Target="/ppt/slides/slide2.xml" Id="R8ea258301413497f" /><Relationship Type="http://schemas.openxmlformats.org/officeDocument/2006/relationships/slide" Target="/ppt/slides/slide3.xml" Id="R6ea5faa33aea43b8" /><Relationship Type="http://schemas.openxmlformats.org/officeDocument/2006/relationships/slide" Target="/ppt/slides/slide4.xml" Id="R2ec2f4a91c9e4279" /><Relationship Type="http://schemas.openxmlformats.org/officeDocument/2006/relationships/slide" Target="/ppt/slides/slide5.xml" Id="R6c34d8e588344e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166026538348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8b6155ca1842ed" /><Relationship Type="http://schemas.openxmlformats.org/officeDocument/2006/relationships/notesMaster" Target="/ppt/notesMasters/notesMaster1.xml" Id="R66c9cb04507b4e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4531b6ad4243bc" /><Relationship Type="http://schemas.openxmlformats.org/officeDocument/2006/relationships/notesMaster" Target="/ppt/notesMasters/notesMaster1.xml" Id="R2b21b1edaca746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9d676f724e4cc6" /><Relationship Type="http://schemas.openxmlformats.org/officeDocument/2006/relationships/notesMaster" Target="/ppt/notesMasters/notesMaster1.xml" Id="Re25099c28acd4f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6a9ac720244e43" /><Relationship Type="http://schemas.openxmlformats.org/officeDocument/2006/relationships/notesMaster" Target="/ppt/notesMasters/notesMaster1.xml" Id="R87501e0d51d344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348cb336d64704" /><Relationship Type="http://schemas.openxmlformats.org/officeDocument/2006/relationships/notesMaster" Target="/ppt/notesMasters/notesMaster1.xml" Id="R6b40e01bf20e48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a coding agent fails, a chat log is not enough. TapeDeck saves the experiment: its trace, files, and Git checkpoints, ready to reopen.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reference, not spoken: Audience: MongoDB hackathon judges. The saved Pharo image contains trace objects and embedded file bytes, not an operating-system snapshot.</a:t>
            </a:r>
          </a:p>
          <a:p xmlns:a="http://schemas.openxmlformats.org/drawingml/2006/main">
            <a:r>
              <a:t>Measured evidence: docs/demo-evidence.json. Model: https://ollama.com/library/qwen3.5:2b. GridFS: https://www.mongodb.com/docs/drivers/node/current/crud/gridfs/.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0:10–0:25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ran Qwen three-point-five two-B locally on a coding task. The original run, live fork, and fresh run passed. Strict replay reproduced the trace with zero model calls, measured independently.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reference, not spoken: One sum-function fixture on a 24 GiB Apple Silicon Mac. Ollama 0.33.2, Q8_0 weights, 16,384-token context, temperature zero, seed 42. Replay does not rerun the task verifier. Fork reuses one recorded step and explicitly permits a changed system prompt. No general benchmark claim.</a:t>
            </a:r>
          </a:p>
          <a:p xmlns:a="http://schemas.openxmlformats.org/drawingml/2006/main">
            <a:r>
              <a:t>Measured evidence: docs/demo-evidence.json. Model: https://ollama.com/library/qwen3.5:2b. GridFS: https://www.mongodb.com/docs/drivers/node/current/crud/gridfs/.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0:25–0:40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MongoDB Atlas stores the image and companion files in GridFS. A snapshot manifest links their hashes. Download verifies the bytes before restoring the experiment. Reconnect the local model only when you choose a live continuation.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reference, not spoken: Implemented in runner/src/atlas.ts and archive.ts. Collections: agent_snapshots.files, agent_snapshots.chunks, agent_snapshots_manifests. Manifests publish only after all uploads succeed. Model weights and credentials stay external. No vector-search feature is claimed.</a:t>
            </a:r>
          </a:p>
          <a:p xmlns:a="http://schemas.openxmlformats.org/drawingml/2006/main">
            <a:r>
              <a:t>Measured evidence: docs/demo-evidence.json. Model: https://ollama.com/library/qwen3.5:2b. GridFS: https://www.mongodb.com/docs/drivers/node/current/crud/gridfs/.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0:40–0:52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Atlas recovery is independently verified: four companion hashes matched, and the downloaded image reopened with its files and Git history intact. That earlier snapshot is separate from today’s Qwen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reference, not spoken: Snapshot b185069cbeefb5e464e4523d, verified 2026-09-26T19:06:14.492Z. Separate prior snapshot, not the new Qwen experiment. Every companion hash matches both source and manifest. Every image-materialized file and Git bundle matches its archive digest.</a:t>
            </a:r>
          </a:p>
          <a:p xmlns:a="http://schemas.openxmlformats.org/drawingml/2006/main">
            <a:r>
              <a:t>Measured evidence: docs/demo-evidence.json. Model: https://ollama.com/library/qwen3.5:2b. GridFS: https://www.mongodb.com/docs/drivers/node/current/crud/gridfs/.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0:52–1:00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Our ask: bring one failing agent run. Recover it, inspect it, then try a live alternative. That is TapeDeck.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reference, not spoken: Prototype boundaries: one controlled coding fixture, not a general benchmark or OS sandbox. Model inference is local. Repository access may require permission.</a:t>
            </a:r>
          </a:p>
          <a:p xmlns:a="http://schemas.openxmlformats.org/drawingml/2006/main">
            <a:r>
              <a:t>Measured evidence: docs/demo-evidence.json. Model: https://ollama.com/library/qwen3.5:2b. GridFS: https://www.mongodb.com/docs/drivers/node/current/crud/gridfs/.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aa13b207b74b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aabaed52f64f9f" /><Relationship Type="http://schemas.openxmlformats.org/officeDocument/2006/relationships/slideLayout" Target="/ppt/slideLayouts/slideLayout1.xml" Id="R24193bc7f17e44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193bc7f17e44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7e9f95e9440ad" /><Relationship Type="http://schemas.openxmlformats.org/officeDocument/2006/relationships/notesSlide" Target="/ppt/notesSlides/notesSlide1.xml" Id="R5a266fd7bbea40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1737e50e84ca6" /><Relationship Type="http://schemas.openxmlformats.org/officeDocument/2006/relationships/notesSlide" Target="/ppt/notesSlides/notesSlide2.xml" Id="Rafb774c540ff4d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8c64b827243fb" /><Relationship Type="http://schemas.openxmlformats.org/officeDocument/2006/relationships/notesSlide" Target="/ppt/notesSlides/notesSlide3.xml" Id="R3f50f802b3d24e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8aae89409476e" /><Relationship Type="http://schemas.openxmlformats.org/officeDocument/2006/relationships/notesSlide" Target="/ppt/notesSlides/notesSlide4.xml" Id="R40cf90fb90514c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b14e2496449c2" /><Relationship Type="http://schemas.openxmlformats.org/officeDocument/2006/relationships/notesSlide" Target="/ppt/notesSlides/notesSlide5.xml" Id="Rb48bf242c4524c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9E00C80B-0E5A-44EF-9A42-C5711656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4AFA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94AFA7"/>
                </a:solidFill>
                <a:latin typeface="Helvetica Neue"/>
                <a:ea typeface="Helvetica Neue"/>
                <a:cs typeface="Helvetica Neue"/>
              </a:rPr>
              <a:t>1 / 5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E107625-CDDB-4F25-A7A5-0A9699A1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714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TapeDeck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AED863-AEA3-4F97-AB54-FF9BAD1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90825"/>
            <a:ext cx="723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Agent runs you can reopen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CE03C58-8B79-4BCC-ADFC-190517F8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029200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ED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ED64"/>
                </a:solidFill>
                <a:latin typeface="Helvetica Neue"/>
                <a:ea typeface="Helvetica Neue"/>
                <a:cs typeface="Helvetica Neue"/>
              </a:rPr>
              <a:t>Local Qwen3.5 2B + MongoDB Atlas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843482A-BFBB-4E49-AEF6-FC5C0E2F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43575"/>
            <a:ext cx="714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5BE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A5BEB5"/>
                </a:solidFill>
                <a:latin typeface="Helvetica Neue"/>
                <a:ea typeface="Helvetica Neue"/>
                <a:cs typeface="Helvetica Neue"/>
              </a:rPr>
              <a:t>MongoDB Hackathon  /  60-second pitch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94976B-29C3-4E32-90D8-4DCD40F3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66950"/>
            <a:ext cx="3000375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D6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06EF2-2682-4147-B989-1B8BC12E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486025"/>
            <a:ext cx="2543175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8B8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6133E-C71E-4920-B147-15935488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86075"/>
            <a:ext cx="533400" cy="533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D6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A235D-ACF5-4F69-BA20-B99BA320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86075"/>
            <a:ext cx="533400" cy="533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D6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755B0-C1D7-422C-95BB-EA971C3F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14325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D64"/>
          </a:solidFill>
          <a:ln xmlns:a="http://schemas.openxmlformats.org/drawingml/2006/main" w="0">
            <a:noFill/>
          </a:ln>
        </p:spPr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E966B53E-F804-4FDD-B250-6B968FEF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400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ED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>
                <a:solidFill>
                  <a:srgbClr val="00ED64"/>
                </a:solidFill>
                <a:latin typeface="Helvetica Neue"/>
                <a:ea typeface="Helvetica Neue"/>
                <a:cs typeface="Helvetica Neue"/>
              </a:rPr>
              <a:t>Agent.image</a:t>
            </a:r>
          </a:p>
        </p:txBody>
      </p:sp>
    </p:spTree>
    <p:extLst>
      <p:ext uri="{BB962C8B-B14F-4D97-AF65-F5344CB8AC3E}">
        <p14:creationId xmlns:p14="http://schemas.microsoft.com/office/powerpoint/2010/main" val="20420168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6F0A6619-47B1-4561-95F2-F8814EA9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Real Qwen3.5 2B, zero-call replay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E95DBBB-794E-4B8F-AD5C-0BEB12F4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2 / 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9FE2EB2-AE53-42A5-AA7E-007C1B05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109347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Task: repair a JavaScript sum function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305050"/>
          <a:ext xmlns:a="http://schemas.openxmlformats.org/drawingml/2006/main" cx="109347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19600"/>
                <a:gridCol w="3295650"/>
                <a:gridCol w="3219450"/>
              </a:tblGrid>
              <a:tr h="6286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</a:t>
                      </a:r>
                    </a:p>
                  </a:txBody>
                  <a:tcPr marL="91440" marR="91440" marT="45720" marB="45720">
                    <a:solidFill>
                      <a:srgbClr val="00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 model calls</a:t>
                      </a:r>
                    </a:p>
                  </a:txBody>
                  <a:tcPr marL="91440" marR="91440" marT="45720" marB="45720">
                    <a:solidFill>
                      <a:srgbClr val="00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Task verifier</a:t>
                      </a:r>
                    </a:p>
                  </a:txBody>
                  <a:tcPr marL="91440" marR="91440" marT="45720" marB="45720">
                    <a:solidFill>
                      <a:srgbClr val="001E2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Original run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Strict replay</a:t>
                      </a:r>
                    </a:p>
                  </a:txBody>
                  <a:tcPr marL="91440" marR="91440" marT="45720" marB="45720">
                    <a:solidFill>
                      <a:srgbClr val="E3F3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3F3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 rerun</a:t>
                      </a:r>
                    </a:p>
                  </a:txBody>
                  <a:tcPr marL="91440" marR="91440" marT="45720" marB="45720">
                    <a:solidFill>
                      <a:srgbClr val="E3F3E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 fork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Fresh run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001E2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1E891629-8F84-4C01-8EC4-5AE5F37F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0915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One fixture, not a model benchmark. Replay has no new test verdict.</a:t>
            </a:r>
          </a:p>
        </p:txBody>
      </p:sp>
    </p:spTree>
    <p:extLst>
      <p:ext uri="{BB962C8B-B14F-4D97-AF65-F5344CB8AC3E}">
        <p14:creationId xmlns:p14="http://schemas.microsoft.com/office/powerpoint/2010/main" val="12206253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0">
            <a:extLst xmlns:a="http://schemas.openxmlformats.org/drawingml/2006/main">
              <a:ext uri="{FF2B5EF4-FFF2-40B4-BE49-F238E27FC236}">
                <a16:creationId xmlns:a16="http://schemas.microsoft.com/office/drawing/2014/main" id="{1BA321E7-0D99-4DA0-86DD-B4C56563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MongoDB Atlas keeps the experiment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ACC6B3E-464C-4FBA-B769-B0FAE156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3 / 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4CF7D25-17D2-4869-B6A4-3105E509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33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Save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8C51ADD-9B48-4EC2-90D0-48D6876E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52725"/>
            <a:ext cx="29813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Agent.image</a:t>
            </a:r>
          </a:p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Trace objects</a:t>
            </a:r>
          </a:p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Files and Git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D228D-DCB3-4103-99F6-9B1B68A3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438400"/>
            <a:ext cx="3362325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F3E9"/>
          </a:solidFill>
          <a:ln xmlns:a="http://schemas.openxmlformats.org/drawingml/2006/main" w="19050">
            <a:solidFill>
              <a:srgbClr val="8CAD9C"/>
            </a:solidFill>
          </a:ln>
        </p:spPr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2EAE834-BC1E-41E5-B464-B335ABA7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714625"/>
            <a:ext cx="3000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MongoDB Atlas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8D94990-CA29-4DD8-9FD6-5258AAF5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495675"/>
            <a:ext cx="2971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GridFS payloads</a:t>
            </a:r>
          </a:p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Checksummed manifest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1AAE2-F665-48BB-91ED-D553F3EC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814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F4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062E6-61CF-4F83-87CB-B5696A3A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814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F48"/>
          </a:solidFill>
          <a:ln xmlns:a="http://schemas.openxmlformats.org/drawingml/2006/main" w="0">
            <a:noFill/>
          </a:ln>
        </p:spPr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A0C90728-2471-4DE2-B6C5-89517D01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933575"/>
            <a:ext cx="3190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B97F2D7A-E556-4872-87BB-280179FB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752725"/>
            <a:ext cx="323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Download</a:t>
            </a:r>
          </a:p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Verify SHA-256</a:t>
            </a:r>
          </a:p>
          <a:p xmlns:a="http://schemas.openxmlformats.org/drawingml/2006/main">
            <a:pPr>
              <a:def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Reopen and inspect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9B9AB-22D5-480E-923F-2F2013C7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72100"/>
            <a:ext cx="10925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D1"/>
          </a:solidFill>
          <a:ln xmlns:a="http://schemas.openxmlformats.org/drawingml/2006/main" w="0">
            <a:noFill/>
          </a:ln>
        </p:spPr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6CE516B2-BFA6-41B4-8227-7355A48B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43575"/>
            <a:ext cx="109251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Live continuation is explicit. Weights and credentials stay external.</a:t>
            </a:r>
          </a:p>
        </p:txBody>
      </p:sp>
    </p:spTree>
    <p:extLst>
      <p:ext uri="{BB962C8B-B14F-4D97-AF65-F5344CB8AC3E}">
        <p14:creationId xmlns:p14="http://schemas.microsoft.com/office/powerpoint/2010/main" val="3564362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0">
            <a:extLst xmlns:a="http://schemas.openxmlformats.org/drawingml/2006/main">
              <a:ext uri="{FF2B5EF4-FFF2-40B4-BE49-F238E27FC236}">
                <a16:creationId xmlns:a16="http://schemas.microsoft.com/office/drawing/2014/main" id="{1B621CE3-B2A7-4D3D-9B3D-06E23E07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Downloaded, reopened, checksum-verified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FCA388A-816D-47B8-83AF-781C1388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4 / 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2F28F25-5767-47E3-8676-D3C407E7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26289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AF9632E-31DB-4E64-AAF8-30EC91CD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528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Restored runs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BCE1E-6C44-4487-9224-B7BBE8D3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D1"/>
          </a:solidFill>
          <a:ln xmlns:a="http://schemas.openxmlformats.org/drawingml/2006/main" w="0">
            <a:noFill/>
          </a:ln>
        </p:spPr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7602A33-1A46-4D23-B814-5986A462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209800"/>
            <a:ext cx="26289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rPr>
              <a:t>491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0A6AC11-1205-4795-87CD-B6C36870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7528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Embedded 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AD8BE-2C8D-4C64-BF41-66447BD8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5148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D1"/>
          </a:solidFill>
          <a:ln xmlns:a="http://schemas.openxmlformats.org/drawingml/2006/main" w="0">
            <a:noFill/>
          </a:ln>
        </p:spPr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40DBEC24-FB1E-4722-A929-222FE1BD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26289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D7B685F9-3882-4B43-B2B7-D6850D6A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528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Git bundles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CCF67-D9F1-48F3-9967-68CB1808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148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D1"/>
          </a:solidFill>
          <a:ln xmlns:a="http://schemas.openxmlformats.org/drawingml/2006/main" w="0">
            <a:noFill/>
          </a:ln>
        </p:spPr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AD3D3EF7-C607-4F58-8632-F635CF4F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09800"/>
            <a:ext cx="26289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200" b="1">
                <a:solidFill>
                  <a:srgbClr val="007E54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ED18E1F2-8879-4CEA-9925-DBCBF4C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7528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Companion hashes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EAB234-EF41-4C18-AA68-2A6AAC7A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514850"/>
            <a:ext cx="233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7D1"/>
          </a:solidFill>
          <a:ln xmlns:a="http://schemas.openxmlformats.org/drawingml/2006/main" w="0">
            <a:noFill/>
          </a:ln>
        </p:spPr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D999CC00-6352-43A1-ADFD-8C3D15EB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01E2B"/>
                </a:solidFill>
                <a:latin typeface="Helvetica Neue"/>
                <a:ea typeface="Helvetica Neue"/>
                <a:cs typeface="Helvetica Neue"/>
              </a:rPr>
              <a:t>Prior Atlas snapshot, separate from the Qwen experiment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40B79B4F-9D8B-46C4-AF6F-794DF48B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86450"/>
            <a:ext cx="10934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2666C"/>
                </a:solidFill>
                <a:latin typeface="Helvetica Neue"/>
                <a:ea typeface="Helvetica Neue"/>
                <a:cs typeface="Helvetica Neue"/>
              </a:rPr>
              <a:t>Snapshot b185069cbeefb5e464e4523d  /  September 26, 2026</a:t>
            </a:r>
          </a:p>
        </p:txBody>
      </p:sp>
    </p:spTree>
    <p:extLst>
      <p:ext uri="{BB962C8B-B14F-4D97-AF65-F5344CB8AC3E}">
        <p14:creationId xmlns:p14="http://schemas.microsoft.com/office/powerpoint/2010/main" val="6363448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1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94C3DE8A-744F-4CB7-BC8D-F40DAFB4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Bring one failing agent run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BC9F099-4E06-445C-8462-4D3CBF7C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4AFA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94AFA7"/>
                </a:solidFill>
                <a:latin typeface="Helvetica Neue"/>
                <a:ea typeface="Helvetica Neue"/>
                <a:cs typeface="Helvetica Neue"/>
              </a:rPr>
              <a:t>5 / 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5A68932-9048-4B8E-8736-AC9DE05E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109347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 it. Inspect it.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Try a live alternative.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D0FFFB4-311F-4344-83DB-B3D1D81C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81525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0ED6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75" b="1">
                <a:solidFill>
                  <a:srgbClr val="00ED64"/>
                </a:solidFill>
                <a:latin typeface="Helvetica Neue"/>
                <a:ea typeface="Helvetica Neue"/>
                <a:cs typeface="Helvetica Neue"/>
              </a:rPr>
              <a:t>TapeDeck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1C2EF3F-F267-40A4-BC06-F3F5FE44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95925"/>
            <a:ext cx="10801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github.com/gfade/tapedeck_ai</a:t>
            </a:r>
          </a:p>
        </p:txBody>
      </p:sp>
    </p:spTree>
    <p:extLst>
      <p:ext uri="{BB962C8B-B14F-4D97-AF65-F5344CB8AC3E}">
        <p14:creationId xmlns:p14="http://schemas.microsoft.com/office/powerpoint/2010/main" val="1747841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2026-09-26T19:43:35.9050000Z</dcterms:created>
  <dcterms:modified xsi:type="dcterms:W3CDTF">2026-09-26T19:43:35.9050000Z</dcterms:modified>
</coreProperties>
</file>