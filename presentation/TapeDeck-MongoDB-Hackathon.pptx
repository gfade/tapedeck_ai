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546331db0403e" /><Relationship Type="http://schemas.openxmlformats.org/officeDocument/2006/relationships/extended-properties" Target="/docProps/app.xml" Id="R656b4e2d098b461a" /><Relationship Type="http://schemas.openxmlformats.org/officeDocument/2006/relationships/officeDocument" Target="/ppt/presentation.xml" Id="Rdc06b9e94e2a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b8ce4862d48dc"/>
  </p:sldMasterIdLst>
  <p:notesMasterIdLst>
    <p:notesMasterId xmlns:r="http://schemas.openxmlformats.org/officeDocument/2006/relationships" r:id="R3136c2bc250449b6"/>
  </p:notesMasterIdLst>
  <p:sldIdLst>
    <p:sldId xmlns:r="http://schemas.openxmlformats.org/officeDocument/2006/relationships" id="256" r:id="R3060a759856f4484"/>
    <p:sldId xmlns:r="http://schemas.openxmlformats.org/officeDocument/2006/relationships" id="257" r:id="Ra11166c15d074e4a"/>
    <p:sldId xmlns:r="http://schemas.openxmlformats.org/officeDocument/2006/relationships" id="258" r:id="R37efc9de580848d9"/>
    <p:sldId xmlns:r="http://schemas.openxmlformats.org/officeDocument/2006/relationships" id="259" r:id="Rc9d5ee8b4d0a4f65"/>
    <p:sldId xmlns:r="http://schemas.openxmlformats.org/officeDocument/2006/relationships" id="260" r:id="R981f870ea1584f8c"/>
    <p:sldId xmlns:r="http://schemas.openxmlformats.org/officeDocument/2006/relationships" id="261" r:id="R372ebe0b1ac848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0fcf2b8444fe2" /><Relationship Type="http://schemas.openxmlformats.org/officeDocument/2006/relationships/slideMaster" Target="/ppt/slideMasters/slideMaster1.xml" Id="R8e0b8ce4862d48dc" /><Relationship Type="http://schemas.openxmlformats.org/officeDocument/2006/relationships/notesMaster" Target="/ppt/notesMasters/notesMaster1.xml" Id="R3136c2bc250449b6" /><Relationship Type="http://schemas.openxmlformats.org/officeDocument/2006/relationships/presProps" Target="/ppt/presProps.xml" Id="R94a1b5b73c3c4eab" /><Relationship Type="http://schemas.openxmlformats.org/officeDocument/2006/relationships/tableStyles" Target="/ppt/tableStyles.xml" Id="Rbc1bc06b162a4366" /><Relationship Type="http://schemas.openxmlformats.org/officeDocument/2006/relationships/slide" Target="/ppt/slides/slide1.xml" Id="R3060a759856f4484" /><Relationship Type="http://schemas.openxmlformats.org/officeDocument/2006/relationships/slide" Target="/ppt/slides/slide2.xml" Id="Ra11166c15d074e4a" /><Relationship Type="http://schemas.openxmlformats.org/officeDocument/2006/relationships/slide" Target="/ppt/slides/slide3.xml" Id="R37efc9de580848d9" /><Relationship Type="http://schemas.openxmlformats.org/officeDocument/2006/relationships/slide" Target="/ppt/slides/slide4.xml" Id="Rc9d5ee8b4d0a4f65" /><Relationship Type="http://schemas.openxmlformats.org/officeDocument/2006/relationships/slide" Target="/ppt/slides/slide5.xml" Id="R981f870ea1584f8c" /><Relationship Type="http://schemas.openxmlformats.org/officeDocument/2006/relationships/slide" Target="/ppt/slides/slide6.xml" Id="R372ebe0b1ac8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75ff68b3c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8daa2f10246ee" /><Relationship Type="http://schemas.openxmlformats.org/officeDocument/2006/relationships/notesMaster" Target="/ppt/notesMasters/notesMaster1.xml" Id="R7bc4c87567094e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a6ce7b1b924395" /><Relationship Type="http://schemas.openxmlformats.org/officeDocument/2006/relationships/notesMaster" Target="/ppt/notesMasters/notesMaster1.xml" Id="R94fd90b43acc44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ea7eb415154a29" /><Relationship Type="http://schemas.openxmlformats.org/officeDocument/2006/relationships/notesMaster" Target="/ppt/notesMasters/notesMaster1.xml" Id="R007553c10629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b909d21e84abb" /><Relationship Type="http://schemas.openxmlformats.org/officeDocument/2006/relationships/notesMaster" Target="/ppt/notesMasters/notesMaster1.xml" Id="R0d52cc05794c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b292d2525d4fb6" /><Relationship Type="http://schemas.openxmlformats.org/officeDocument/2006/relationships/notesMaster" Target="/ppt/notesMasters/notesMaster1.xml" Id="Rfb6106173ca54f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04ab2c0f06458e" /><Relationship Type="http://schemas.openxmlformats.org/officeDocument/2006/relationships/notesMaster" Target="/ppt/notesMasters/notesMaster1.xml" Id="R25a050b42ea5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0–6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failed agent run needs more than chat logs. TapeDeck saves reopenable, executable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[{"path":"image/src/TapeDeck-Server/TdAgentImage.class.st","symbols":["readArchive:","saveAs:","startUp:"]}]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6–20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Real local Qwen on a coding task: baseline, four calls; replay, zero; fork, three; fresh run, four. Independently counted. All live verifiers passed. Replay returns recorded behavior, not a new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[{"path":"runner/src/local-demo.ts","symbols":["replayVerified","providerRequests"]},{"path":"runner/src/local-gateway.ts","symbols":["startLocalGateway","setPhase"]}]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20–30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intercept requests, record tool outcomes, and checkpoint Git. Divergence stops replay; an explicit fork restores the checkpoint before continuing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[{"path":"pi-tape/extensions/tape.ts","symbols":["registerProvider"]},{"path":"pi-tape/extensions/tape/controller.ts","symbols":["checkRequest","runTool","stubResult","finishStep","diverge"]},{"path":"pi-tape/src/git.ts","symbols":["snapshot","restore"]}]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30–40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MongoDB GridFS stores checksummed images and their companions in file and chunk collections. Our manifest collection publishes a snapshot only after every upload succeeds.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[{"path":"runner/src/atlas.ts","symbols":["GridFSBucket","putManifest","publish","restore"]},{"path":"runner/test/atlas.test.ts","symbols":["publishes manifest last","corrupt, truncated, oversized, or missing GridFS files"]}]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40–52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Pharo preserves objects and files. This earlier Atlas download reopens with four companion hashes verified. Today’s Qwen image is local; its upload remains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[{"path":"image/src/TapeDeck-Server/TdAgentImage.class.st","symbols":["readArchive:","decodedBytes:","restoreFilesTo:","resume","saveAs:"]},{"path":"runner/src/atlas.ts","symbols":["restore"]}]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52–60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Recover, review, and debug failures without repeating inference during replay. Bring one failing run; test a live 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References, not spoken: presentation/demo-capture.json; presentation/pitch-plan.json. Actual Qwen results captured September 26, 2026. Prior Atlas snapshot is separate from the Qwen run, reverified locally, not a new live cloud transfer. [{"path":"pi-tape/extensions/tape/controller.ts","symbols":["stubResult","isLive","diverge"]},{"path":"image/src/TapeDeck-Server/TdAgentImage.class.st","symbols":["resume","compareRun:"]}]</a:t>
            </a:r>
          </a:p>
          <a:p xmlns:a="http://schemas.openxmlformats.org/drawingml/2006/main">
            <a:r>
              <a:t>MongoDB GridFS: https://www.mongodb.com/docs/drivers/node/current/crud/gridfs/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ec68172344c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e02b8c28c4ca6" /><Relationship Type="http://schemas.openxmlformats.org/officeDocument/2006/relationships/slideLayout" Target="/ppt/slideLayouts/slideLayout1.xml" Id="R9d1f4929070b4c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f4929070b4c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1902026c44b42" /><Relationship Type="http://schemas.openxmlformats.org/officeDocument/2006/relationships/notesSlide" Target="/ppt/notesSlides/notesSlide1.xml" Id="R421898fdfc87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fe98dc3104d8a" /><Relationship Type="http://schemas.openxmlformats.org/officeDocument/2006/relationships/notesSlide" Target="/ppt/notesSlides/notesSlide2.xml" Id="R7277abd5f3e541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1c76756bf4917" /><Relationship Type="http://schemas.openxmlformats.org/officeDocument/2006/relationships/notesSlide" Target="/ppt/notesSlides/notesSlide3.xml" Id="Rd6493899966a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fdfc8096043d1" /><Relationship Type="http://schemas.openxmlformats.org/officeDocument/2006/relationships/notesSlide" Target="/ppt/notesSlides/notesSlide4.xml" Id="R418e8bc785944b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a6dadb8094d4c" /><Relationship Type="http://schemas.openxmlformats.org/officeDocument/2006/relationships/notesSlide" Target="/ppt/notesSlides/notesSlide5.xml" Id="Rd76dcec29a184c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4fdb25060454c" /><Relationship Type="http://schemas.openxmlformats.org/officeDocument/2006/relationships/notesSlide" Target="/ppt/notesSlides/notesSlide6.xml" Id="Ra3c0c53f0afd4b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2C1393EE-1CBF-4911-8C02-01D032F5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CREATIVITY 15%  /  IMPACT POTENTIAL 20%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FD3AF3-2979-48AB-B0DC-F1FF1F95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4AF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94AFA7"/>
                </a:solidFill>
                <a:latin typeface="Helvetica Neue"/>
                <a:ea typeface="Helvetica Neue"/>
                <a:cs typeface="Helvetica Neue"/>
              </a:rPr>
              <a:t>1 / 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A280EE0-933D-4236-B66F-C03245BD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14475"/>
            <a:ext cx="72104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TapeDeck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5B4FF14-80B9-4F7C-9342-56D97BEB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719137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failed agent run needs</a:t>
            </a:r>
          </a:p>
          <a:p xmlns:a="http://schemas.openxmlformats.org/drawingml/2006/main">
            <a:pPr>
              <a:defRPr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more than a chat log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0C168B-7977-44F2-BC07-40FDEB9B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48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Save the experiment as an executable image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0493E03-36E1-4015-A03C-E9E17B6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372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EC6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AEC6BC"/>
                </a:solidFill>
                <a:latin typeface="Helvetica Neue"/>
                <a:ea typeface="Helvetica Neue"/>
                <a:cs typeface="Helvetica Neue"/>
              </a:rPr>
              <a:t>Local Qwen3.5 2B + Pharo + MongoDB Atlas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227C6-13F5-4A50-AB5C-479A64B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81275"/>
            <a:ext cx="271462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ED6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6CC6F-A25D-4405-B4F0-45FDCA95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81300"/>
            <a:ext cx="22955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8B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6156A-A517-45C6-BC64-2D53DBC3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38475"/>
            <a:ext cx="485775" cy="485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ED6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03414-3798-4224-88A4-587A8AC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38475"/>
            <a:ext cx="485775" cy="485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ED6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248ED-C409-4DF7-89CA-041FAFB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2766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D64"/>
          </a:solidFill>
          <a:ln xmlns:a="http://schemas.openxmlformats.org/drawingml/2006/main" w="0">
            <a:noFill/>
          </a:ln>
        </p:spPr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B21F99C-4BD0-4283-87EA-F362BC83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48175"/>
            <a:ext cx="26384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Agent.image</a:t>
            </a:r>
          </a:p>
        </p:txBody>
      </p:sp>
    </p:spTree>
    <p:extLst>
      <p:ext uri="{BB962C8B-B14F-4D97-AF65-F5344CB8AC3E}">
        <p14:creationId xmlns:p14="http://schemas.microsoft.com/office/powerpoint/2010/main" val="907326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53F0426-9867-41F9-A678-850A92B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TECHNICAL DEMO 35%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77CCC7-76E8-4E7C-8A63-434D839D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9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Real Qwen3.5 2B fixes the bug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9E288B0-B158-4BFA-8DF7-61820605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2 / 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19125" y="2247900"/>
          <a:ext xmlns:a="http://schemas.openxmlformats.org/drawingml/2006/main" cx="6962775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1657350"/>
                <a:gridCol w="2333625"/>
              </a:tblGrid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Calls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Verifier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</a:t>
                      </a:r>
                    </a:p>
                  </a:txBody>
                  <a:tcPr marL="91440" marR="91440" marT="45720" marB="45720">
                    <a:solidFill>
                      <a:srgbClr val="E3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3F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rerun</a:t>
                      </a:r>
                    </a:p>
                  </a:txBody>
                  <a:tcPr marL="91440" marR="91440" marT="45720" marB="45720">
                    <a:solidFill>
                      <a:srgbClr val="E3F3E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fork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Fresh 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96DCD28-A37D-4A2E-B943-7AD28286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4385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Actual code change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925C2AB-E44B-48CB-8C32-3FC5151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src/sum.js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E44DBAA-3664-48B5-88AB-A4EC4D5D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6712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038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A03838"/>
                </a:solidFill>
                <a:latin typeface="Helvetica Neue"/>
                <a:ea typeface="Helvetica Neue"/>
                <a:cs typeface="Helvetica Neue"/>
              </a:rPr>
              <a:t>− return a − b;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A2B4649-DB31-41C2-9104-BD863BB7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053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+ return a + b;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5C9BD2D0-637C-4417-9F29-D28B67E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Independent request counter. All three live verifiers pass.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2A7C900E-770D-4AE7-B4C7-5DBF46FB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62675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One fixture, not a benchmark. Replay does not rerun the verifier.</a:t>
            </a:r>
          </a:p>
        </p:txBody>
      </p:sp>
    </p:spTree>
    <p:extLst>
      <p:ext uri="{BB962C8B-B14F-4D97-AF65-F5344CB8AC3E}">
        <p14:creationId xmlns:p14="http://schemas.microsoft.com/office/powerpoint/2010/main" val="403221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7D8B7D47-7962-44EE-81A5-391A1F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IMPLEMENTATION DIFFICULTY 30%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08BA03-16CD-4350-9A37-4DD6BB3A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9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Replay has to preserve state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B08D4B-88A5-40E1-8F3F-2CF0F5E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3 / 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93D6CE-25F0-4C63-B2A8-493C7F3C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74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02238A9-0802-4805-8698-A893A76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43125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Request interception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EDE090-8B3A-4574-899F-387ECB56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76525"/>
            <a:ext cx="969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Normalize requests and detect divergence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0F01599-D2AC-46A6-8B53-05864575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74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5E7C0CE-B150-4A5F-B7F2-53E34508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48025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Recorded tool outcomes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C68A6B1-CA4F-4560-AED4-333E528D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81425"/>
            <a:ext cx="969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Replay behavior, not another model answer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D0E1136-26DD-41FA-88D1-EDB0DBE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74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0048A8B-DD4F-47F6-865F-A4A9639C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52925"/>
            <a:ext cx="969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Git checkpoint recovery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E0995A9-C96B-432C-8B68-05397AC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86325"/>
            <a:ext cx="969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Restore files before the live continuation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F55D0-DD8D-4C9E-96E4-7DD04E42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1"/>
          </a:solidFill>
          <a:ln xmlns:a="http://schemas.openxmlformats.org/drawingml/2006/main" w="0">
            <a:noFill/>
          </a:ln>
        </p:spPr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C66E490-3B08-4745-90E8-02909FCD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Observed fork: 1 replayed step + 3 live model calls</a:t>
            </a:r>
          </a:p>
        </p:txBody>
      </p:sp>
    </p:spTree>
    <p:extLst>
      <p:ext uri="{BB962C8B-B14F-4D97-AF65-F5344CB8AC3E}">
        <p14:creationId xmlns:p14="http://schemas.microsoft.com/office/powerpoint/2010/main" val="1321069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96B47DB-5048-490B-934C-CD7B5265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IMPLEMENTATION DIFFICULTY 30%  /  MONGODB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FCD8C7-502F-4634-AE77-DE7FB371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9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MongoDB is the recovery store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FF2A44-EAB3-4D14-97EE-0CF77036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4 / 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28650" y="2276475"/>
          <a:ext xmlns:a="http://schemas.openxmlformats.org/drawingml/2006/main" cx="7581900" cy="2886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809750"/>
                <a:gridCol w="2819400"/>
              </a:tblGrid>
              <a:tr h="5772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Companion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Size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SHA-256 prefix</a:t>
                      </a:r>
                    </a:p>
                  </a:txBody>
                  <a:tcPr marL="91440" marR="91440" marT="45720" marB="45720">
                    <a:solidFill>
                      <a:srgbClr val="001E2B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Agent.image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70.40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4ed9a1c282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archive.json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4.28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110e2f979e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Agent.changes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0.32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2bda01df7b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Pharo .sources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45.28 MB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1E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4f93dab730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323F4A6-25BC-4D09-B420-27DF1B7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19325"/>
            <a:ext cx="3009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GridFS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7A6916F-47C9-4E4C-9E5D-6AACDC92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71800"/>
            <a:ext cx="29337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.files</a:t>
            </a:r>
          </a:p>
          <a:p xmlns:a="http://schemas.openxmlformats.org/drawingml/2006/main">
            <a:pPr>
              <a:defRPr sz="2400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.chunks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DB4A33F-1501-45DE-ACA9-2103E74E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43375"/>
            <a:ext cx="2943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Snapshot manifest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7058912-6DC5-49E6-B0C4-C5338743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815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IDs, sizes, hashes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462D690F-2244-4CDA-A5E5-1242F9A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915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Publish the manifest last. Verify every download before restoring.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A834DBD9-0A00-4D9A-93FF-19872201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267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Actual companion metadata from the prior verified Atlas snapshot</a:t>
            </a:r>
          </a:p>
        </p:txBody>
      </p:sp>
    </p:spTree>
    <p:extLst>
      <p:ext uri="{BB962C8B-B14F-4D97-AF65-F5344CB8AC3E}">
        <p14:creationId xmlns:p14="http://schemas.microsoft.com/office/powerpoint/2010/main" val="15323379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A664348-9F0D-496C-B6DF-BE64B3B5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54"/>
                </a:solidFill>
                <a:latin typeface="Helvetica Neue"/>
                <a:ea typeface="Helvetica Neue"/>
                <a:cs typeface="Helvetica Neue"/>
              </a:rPr>
              <a:t>TECHNICAL DEMO 35%  /  CREATIVITY 15%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23D7F0-4081-455F-9316-335E754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9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The downloaded image reopens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2D30CF-BFC9-4D78-8355-27A852C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5 / 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693323-4222-4525-A985-1F370098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106489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Actual re-verification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352E6-1553-41B2-93AF-6A78034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09156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E2B"/>
          </a:solidFill>
          <a:ln xmlns:a="http://schemas.openxmlformats.org/drawingml/2006/main" w="0">
            <a:noFill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5FCC91-CA11-4BBF-ACF0-49493BA1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67050"/>
            <a:ext cx="103822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IMAGE REOPENED   runs=32  files=491  gitBundles=6</a:t>
            </a:r>
          </a:p>
          <a:p xmlns:a="http://schemas.openxmlformats.org/drawingml/2006/main">
            <a:pPr>
              <a:def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PAYLOADS VERIFIED   491 file hashes + 6 Git bundles</a:t>
            </a:r>
          </a:p>
          <a:p xmlns:a="http://schemas.openxmlformats.org/drawingml/2006/main">
            <a:pPr>
              <a:def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RESULT   PASS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29B2D3D-010C-4EA2-B19D-FD338277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01E2B"/>
                </a:solidFill>
                <a:latin typeface="Helvetica Neue"/>
                <a:ea typeface="Helvetica Neue"/>
                <a:cs typeface="Helvetica Neue"/>
              </a:rPr>
              <a:t>4 / 4 companion hashes match the Atlas manifest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7A584BD-6ABB-4C1C-8D2F-DE3A61C4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839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Prior Atlas snapshot, rechecked locally. New Qwen image: 4 runs, 76 files, 1 bundle.</a:t>
            </a:r>
          </a:p>
          <a:p xmlns:a="http://schemas.openxmlformats.org/drawingml/2006/main">
            <a:pPr>
              <a:defRPr sz="17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2666C"/>
                </a:solidFill>
                <a:latin typeface="Helvetica Neue"/>
                <a:ea typeface="Helvetica Neue"/>
                <a:cs typeface="Helvetica Neue"/>
              </a:rPr>
              <a:t>The new image is local; its Atlas upload remains blocked.</a:t>
            </a:r>
          </a:p>
        </p:txBody>
      </p:sp>
    </p:spTree>
    <p:extLst>
      <p:ext uri="{BB962C8B-B14F-4D97-AF65-F5344CB8AC3E}">
        <p14:creationId xmlns:p14="http://schemas.microsoft.com/office/powerpoint/2010/main" val="422008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1A00779-D6DE-43B8-9BC6-4457B95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"/>
            <a:ext cx="1093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IMPACT POTENTIAL 20%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3FD5BA-4706-44DA-A72C-51FA41B1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991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Debug the run, not just the log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3B06572-3415-4E73-B418-4A6DD72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722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4AFA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94AFA7"/>
                </a:solidFill>
                <a:latin typeface="Helvetica Neue"/>
                <a:ea typeface="Helvetica Neue"/>
                <a:cs typeface="Helvetica Neue"/>
              </a:rPr>
              <a:t>6 / 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C1311D-7891-4D87-B216-12106312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907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Agent developers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33AB3E2-7945-41BD-9597-6148DE95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390775"/>
            <a:ext cx="6296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Recover a failure with its files and checkpoints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82E30F-B833-497A-9939-7880AD36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194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Evaluation teams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9C4CD8C-0A0D-4EFF-B93F-DA2333CA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419475"/>
            <a:ext cx="6296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Compare a deliberate live alternative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104A42E-90DB-4254-B682-ABD1F220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48175"/>
            <a:ext cx="4238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ED64"/>
                </a:solidFill>
                <a:latin typeface="Helvetica Neue"/>
                <a:ea typeface="Helvetica Neue"/>
                <a:cs typeface="Helvetica Neue"/>
              </a:rPr>
              <a:t>Teammates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0D95EF3-D459-4E4C-8B17-DB90249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48175"/>
            <a:ext cx="6296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Reopen the experiment without new replay inference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333071A-006A-4CAF-B1F7-33992B4C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62625"/>
            <a:ext cx="6096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Bring one failing run.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E6AE9E4-548D-4C8F-9D1C-A26D46E8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915025"/>
            <a:ext cx="490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AEC6B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AEC6BC"/>
                </a:solidFill>
                <a:latin typeface="Helvetica Neue"/>
                <a:ea typeface="Helvetica Neue"/>
                <a:cs typeface="Helvetica Neue"/>
              </a:rPr>
              <a:t>github.com/gfade/tapedeck_ai</a:t>
            </a:r>
          </a:p>
        </p:txBody>
      </p:sp>
    </p:spTree>
    <p:extLst>
      <p:ext uri="{BB962C8B-B14F-4D97-AF65-F5344CB8AC3E}">
        <p14:creationId xmlns:p14="http://schemas.microsoft.com/office/powerpoint/2010/main" val="540774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2026-09-26T20:05:06.3880000Z</dcterms:created>
  <dcterms:modified xsi:type="dcterms:W3CDTF">2026-09-26T20:05:06.3880000Z</dcterms:modified>
</coreProperties>
</file>